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58" r:id="rId7"/>
    <p:sldId id="266" r:id="rId8"/>
    <p:sldId id="262" r:id="rId9"/>
    <p:sldId id="265" r:id="rId10"/>
  </p:sldIdLst>
  <p:sldSz cx="12192000" cy="6858000"/>
  <p:notesSz cx="6858000" cy="9144000"/>
  <p:embeddedFontLst>
    <p:embeddedFont>
      <p:font typeface="Corbel" panose="020B0503020204020204" pitchFamily="34" charset="0"/>
      <p:regular r:id="rId12"/>
      <p:bold r:id="rId13"/>
      <p:italic r:id="rId14"/>
      <p:boldItalic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Noto Sans Symbols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7hz44J4FbTQrzDxCOYgWw9WKd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8295"/>
    <a:srgbClr val="B1E3ED"/>
    <a:srgbClr val="40B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1" autoAdjust="0"/>
    <p:restoredTop sz="96647" autoAdjust="0"/>
  </p:normalViewPr>
  <p:slideViewPr>
    <p:cSldViewPr snapToGrid="0">
      <p:cViewPr varScale="1">
        <p:scale>
          <a:sx n="116" d="100"/>
          <a:sy n="116" d="100"/>
        </p:scale>
        <p:origin x="18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5533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5849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foli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5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orbel"/>
              <a:buNone/>
              <a:defRPr sz="59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D7F0F6"/>
                </a:solidFill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-&#10;überschrift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900"/>
              <a:buFont typeface="Corbel"/>
              <a:buNone/>
              <a:defRPr sz="5900" b="0">
                <a:solidFill>
                  <a:srgbClr val="5959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3867912" y="868680"/>
            <a:ext cx="347472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7818120" y="868680"/>
            <a:ext cx="347472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3867912" y="1930936"/>
            <a:ext cx="34747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7818463" y="1023586"/>
            <a:ext cx="3474720" cy="81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7818463" y="1930936"/>
            <a:ext cx="34747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eer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mit Überschrift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867912" y="868680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256032" y="3494176"/>
            <a:ext cx="2834640" cy="23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it Überschrift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3570644" y="767419"/>
            <a:ext cx="8115230" cy="533095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256032" y="3493008"/>
            <a:ext cx="2834640" cy="2322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499101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vertikaler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4966548" y="-233172"/>
            <a:ext cx="5120640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kaler Titel u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-685800" y="2057400"/>
            <a:ext cx="49530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4965192" y="-228600"/>
            <a:ext cx="5120640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4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dolos.substack.com/p/feeling-unproductive-maybe-you-shoul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www.youtube.com/watch?v=FgakZw6K1QQ&amp;t=1086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761999"/>
            <a:ext cx="7552943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74027" y="1255607"/>
            <a:ext cx="2551893" cy="932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orbel"/>
              <a:buNone/>
            </a:pPr>
            <a:r>
              <a:rPr lang="de-DE" dirty="0"/>
              <a:t>PCA</a:t>
            </a:r>
            <a:endParaRPr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474027" y="2300361"/>
            <a:ext cx="6037903" cy="762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de-DE" b="1" dirty="0">
                <a:solidFill>
                  <a:srgbClr val="262626"/>
                </a:solidFill>
              </a:rPr>
              <a:t>Umgang mit komplexen Datensätzen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endParaRPr b="1" dirty="0">
              <a:solidFill>
                <a:srgbClr val="262626"/>
              </a:solidFill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85957" y="761565"/>
            <a:ext cx="5206042" cy="533095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453978" y="4646224"/>
            <a:ext cx="7105404" cy="69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</a:pPr>
            <a:r>
              <a:rPr lang="de-DE" sz="22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Workshop LFT KI 24.1.2023:</a:t>
            </a:r>
            <a:br>
              <a:rPr lang="de-DE" sz="22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de-DE" sz="2200" b="1" i="0" u="none" strike="noStrike" cap="none" dirty="0">
                <a:solidFill>
                  <a:schemeClr val="tx1"/>
                </a:solidFill>
                <a:latin typeface="Corbel"/>
                <a:ea typeface="Corbel"/>
                <a:cs typeface="Corbel"/>
                <a:sym typeface="Corbel"/>
              </a:rPr>
              <a:t>Hauptkomponentenanalyse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635899F-39BE-07A8-E795-D963F62EDF34}"/>
              </a:ext>
            </a:extLst>
          </p:cNvPr>
          <p:cNvSpPr/>
          <p:nvPr/>
        </p:nvSpPr>
        <p:spPr>
          <a:xfrm>
            <a:off x="6955213" y="4428765"/>
            <a:ext cx="733474" cy="73347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3520850-42AE-BD47-E4B9-A16ABF5A5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126" y="3310936"/>
            <a:ext cx="1951217" cy="32752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6410B55-E016-9FEB-D071-4A85D9D796C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1096"/>
          <a:stretch/>
        </p:blipFill>
        <p:spPr>
          <a:xfrm>
            <a:off x="7177726" y="4724132"/>
            <a:ext cx="591373" cy="588998"/>
          </a:xfrm>
          <a:prstGeom prst="rect">
            <a:avLst/>
          </a:prstGeom>
          <a:ln w="28575">
            <a:solidFill>
              <a:srgbClr val="C00000"/>
            </a:solidFill>
          </a:ln>
          <a:effectLst/>
        </p:spPr>
      </p:pic>
      <p:cxnSp>
        <p:nvCxnSpPr>
          <p:cNvPr id="95" name="Google Shape;95;p1"/>
          <p:cNvCxnSpPr>
            <a:cxnSpLocks/>
          </p:cNvCxnSpPr>
          <p:nvPr/>
        </p:nvCxnSpPr>
        <p:spPr>
          <a:xfrm>
            <a:off x="-12192" y="5003237"/>
            <a:ext cx="7177726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72829" y="4842794"/>
            <a:ext cx="3366286" cy="6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rbel"/>
              <a:buNone/>
            </a:pPr>
            <a:br>
              <a:rPr lang="de-DE" sz="1600" i="1" dirty="0">
                <a:solidFill>
                  <a:schemeClr val="lt1"/>
                </a:solidFill>
              </a:rPr>
            </a:br>
            <a:endParaRPr sz="1600" i="1" dirty="0">
              <a:solidFill>
                <a:schemeClr val="lt1"/>
              </a:solidFill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3870114" y="722409"/>
            <a:ext cx="7804572" cy="480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de-DE" b="1" dirty="0">
                <a:latin typeface="Corbel"/>
                <a:ea typeface="Corbel"/>
                <a:cs typeface="Corbel"/>
                <a:sym typeface="Corbel"/>
              </a:rPr>
              <a:t>Das Problem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de-DE" b="1" i="1" u="sng" dirty="0">
              <a:solidFill>
                <a:schemeClr val="hlink"/>
              </a:solidFill>
              <a:hlinkClick r:id="rId3"/>
            </a:endParaRPr>
          </a:p>
          <a:p>
            <a:pPr marL="0" indent="0">
              <a:spcBef>
                <a:spcPts val="0"/>
              </a:spcBef>
              <a:buSzPts val="2000"/>
              <a:buNone/>
            </a:pPr>
            <a:r>
              <a:rPr lang="de-DE" b="1" dirty="0"/>
              <a:t>Diabetes-Datensatz in Orange Data Mining</a:t>
            </a:r>
            <a:br>
              <a:rPr lang="de-DE" b="1" dirty="0"/>
            </a:br>
            <a:endParaRPr b="1" i="0" dirty="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pic>
        <p:nvPicPr>
          <p:cNvPr id="102" name="Google Shape;102;p2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01" y="1107959"/>
            <a:ext cx="3297924" cy="4642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4741818" y="5774821"/>
            <a:ext cx="6965090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798B"/>
              </a:buClr>
              <a:buSzPts val="2000"/>
              <a:buFont typeface="Corbel"/>
              <a:buNone/>
            </a:pPr>
            <a:r>
              <a:rPr lang="de-DE" sz="2000" b="1" i="0" u="none" strike="noStrike" cap="none" dirty="0">
                <a:solidFill>
                  <a:srgbClr val="21798B"/>
                </a:solidFill>
                <a:latin typeface="Corbel"/>
                <a:ea typeface="Corbel"/>
                <a:cs typeface="Corbel"/>
                <a:sym typeface="Corbel"/>
              </a:rPr>
              <a:t> Wie trainiert man da ein Modell, bzw. trifft eine Aussage?</a:t>
            </a:r>
            <a:endParaRPr sz="2000" b="1" i="0" u="sng" strike="noStrike" cap="none" dirty="0">
              <a:solidFill>
                <a:srgbClr val="21798B"/>
              </a:solidFill>
              <a:latin typeface="Corbel"/>
              <a:ea typeface="Corbel"/>
              <a:cs typeface="Corbel"/>
              <a:sym typeface="Corbe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105" name="Google Shape;105;p2"/>
          <p:cNvCxnSpPr>
            <a:cxnSpLocks/>
          </p:cNvCxnSpPr>
          <p:nvPr/>
        </p:nvCxnSpPr>
        <p:spPr>
          <a:xfrm>
            <a:off x="3439115" y="1134572"/>
            <a:ext cx="8143285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C2E90B67-C0E4-B6E1-56B6-0679CA2C9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540863"/>
              </p:ext>
            </p:extLst>
          </p:nvPr>
        </p:nvGraphicFramePr>
        <p:xfrm>
          <a:off x="3875452" y="2244224"/>
          <a:ext cx="7831455" cy="30799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4590">
                  <a:extLst>
                    <a:ext uri="{9D8B030D-6E8A-4147-A177-3AD203B41FA5}">
                      <a16:colId xmlns:a16="http://schemas.microsoft.com/office/drawing/2014/main" val="4142646072"/>
                    </a:ext>
                  </a:extLst>
                </a:gridCol>
                <a:gridCol w="871990">
                  <a:extLst>
                    <a:ext uri="{9D8B030D-6E8A-4147-A177-3AD203B41FA5}">
                      <a16:colId xmlns:a16="http://schemas.microsoft.com/office/drawing/2014/main" val="50305111"/>
                    </a:ext>
                  </a:extLst>
                </a:gridCol>
                <a:gridCol w="921348">
                  <a:extLst>
                    <a:ext uri="{9D8B030D-6E8A-4147-A177-3AD203B41FA5}">
                      <a16:colId xmlns:a16="http://schemas.microsoft.com/office/drawing/2014/main" val="362479563"/>
                    </a:ext>
                  </a:extLst>
                </a:gridCol>
                <a:gridCol w="1003611">
                  <a:extLst>
                    <a:ext uri="{9D8B030D-6E8A-4147-A177-3AD203B41FA5}">
                      <a16:colId xmlns:a16="http://schemas.microsoft.com/office/drawing/2014/main" val="2462903774"/>
                    </a:ext>
                  </a:extLst>
                </a:gridCol>
                <a:gridCol w="773274">
                  <a:extLst>
                    <a:ext uri="{9D8B030D-6E8A-4147-A177-3AD203B41FA5}">
                      <a16:colId xmlns:a16="http://schemas.microsoft.com/office/drawing/2014/main" val="103158523"/>
                    </a:ext>
                  </a:extLst>
                </a:gridCol>
                <a:gridCol w="592295">
                  <a:extLst>
                    <a:ext uri="{9D8B030D-6E8A-4147-A177-3AD203B41FA5}">
                      <a16:colId xmlns:a16="http://schemas.microsoft.com/office/drawing/2014/main" val="2821987825"/>
                    </a:ext>
                  </a:extLst>
                </a:gridCol>
                <a:gridCol w="937800">
                  <a:extLst>
                    <a:ext uri="{9D8B030D-6E8A-4147-A177-3AD203B41FA5}">
                      <a16:colId xmlns:a16="http://schemas.microsoft.com/office/drawing/2014/main" val="3910095"/>
                    </a:ext>
                  </a:extLst>
                </a:gridCol>
                <a:gridCol w="575842">
                  <a:extLst>
                    <a:ext uri="{9D8B030D-6E8A-4147-A177-3AD203B41FA5}">
                      <a16:colId xmlns:a16="http://schemas.microsoft.com/office/drawing/2014/main" val="4279811202"/>
                    </a:ext>
                  </a:extLst>
                </a:gridCol>
                <a:gridCol w="970705">
                  <a:extLst>
                    <a:ext uri="{9D8B030D-6E8A-4147-A177-3AD203B41FA5}">
                      <a16:colId xmlns:a16="http://schemas.microsoft.com/office/drawing/2014/main" val="86770223"/>
                    </a:ext>
                  </a:extLst>
                </a:gridCol>
              </a:tblGrid>
              <a:tr h="710754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u="none" strike="noStrike">
                          <a:effectLst/>
                        </a:rPr>
                        <a:t>Pregnancies</a:t>
                      </a:r>
                      <a:endParaRPr lang="de-DE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u="none" strike="noStrike">
                          <a:effectLst/>
                        </a:rPr>
                        <a:t>Glucose</a:t>
                      </a:r>
                      <a:endParaRPr lang="de-DE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u="none" strike="noStrike">
                          <a:effectLst/>
                        </a:rPr>
                        <a:t>Blood</a:t>
                      </a:r>
                      <a:br>
                        <a:rPr lang="de-DE" sz="1400" b="1" u="none" strike="noStrike">
                          <a:effectLst/>
                        </a:rPr>
                      </a:br>
                      <a:r>
                        <a:rPr lang="de-DE" sz="1400" b="1" u="none" strike="noStrike">
                          <a:effectLst/>
                        </a:rPr>
                        <a:t>Pressure</a:t>
                      </a:r>
                      <a:endParaRPr lang="de-DE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u="none" strike="noStrike">
                          <a:effectLst/>
                        </a:rPr>
                        <a:t>Skin</a:t>
                      </a:r>
                      <a:br>
                        <a:rPr lang="de-DE" sz="1400" b="1" u="none" strike="noStrike">
                          <a:effectLst/>
                        </a:rPr>
                      </a:br>
                      <a:r>
                        <a:rPr lang="de-DE" sz="1400" b="1" u="none" strike="noStrike">
                          <a:effectLst/>
                        </a:rPr>
                        <a:t>Thickness</a:t>
                      </a:r>
                      <a:endParaRPr lang="de-DE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u="none" strike="noStrike" dirty="0">
                          <a:effectLst/>
                        </a:rPr>
                        <a:t>Insulin</a:t>
                      </a:r>
                      <a:endParaRPr lang="de-D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u="none" strike="noStrike">
                          <a:effectLst/>
                        </a:rPr>
                        <a:t>BMI</a:t>
                      </a:r>
                      <a:endParaRPr lang="de-DE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u="none" strike="noStrike">
                          <a:effectLst/>
                        </a:rPr>
                        <a:t>Diabetes</a:t>
                      </a:r>
                      <a:br>
                        <a:rPr lang="de-DE" sz="1400" b="1" u="none" strike="noStrike">
                          <a:effectLst/>
                        </a:rPr>
                      </a:br>
                      <a:r>
                        <a:rPr lang="de-DE" sz="1400" b="1" u="none" strike="noStrike">
                          <a:effectLst/>
                        </a:rPr>
                        <a:t>Pedigree</a:t>
                      </a:r>
                      <a:br>
                        <a:rPr lang="de-DE" sz="1400" b="1" u="none" strike="noStrike">
                          <a:effectLst/>
                        </a:rPr>
                      </a:br>
                      <a:r>
                        <a:rPr lang="de-DE" sz="1400" b="1" u="none" strike="noStrike">
                          <a:effectLst/>
                        </a:rPr>
                        <a:t>Function</a:t>
                      </a:r>
                      <a:endParaRPr lang="de-DE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u="none" strike="noStrike">
                          <a:effectLst/>
                        </a:rPr>
                        <a:t>Age</a:t>
                      </a:r>
                      <a:endParaRPr lang="de-DE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Outcome</a:t>
                      </a:r>
                      <a:endParaRPr lang="de-DE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961456"/>
                  </a:ext>
                </a:extLst>
              </a:tr>
              <a:tr h="2369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6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148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72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35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336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627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50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 dirty="0">
                          <a:effectLst/>
                        </a:rPr>
                        <a:t>1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extLst>
                  <a:ext uri="{0D108BD9-81ED-4DB2-BD59-A6C34878D82A}">
                    <a16:rowId xmlns:a16="http://schemas.microsoft.com/office/drawing/2014/main" val="3766838277"/>
                  </a:ext>
                </a:extLst>
              </a:tr>
              <a:tr h="2369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85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66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29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266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351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31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 dirty="0">
                          <a:effectLst/>
                        </a:rPr>
                        <a:t>0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extLst>
                  <a:ext uri="{0D108BD9-81ED-4DB2-BD59-A6C34878D82A}">
                    <a16:rowId xmlns:a16="http://schemas.microsoft.com/office/drawing/2014/main" val="1321721169"/>
                  </a:ext>
                </a:extLst>
              </a:tr>
              <a:tr h="2369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8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183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64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233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672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32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extLst>
                  <a:ext uri="{0D108BD9-81ED-4DB2-BD59-A6C34878D82A}">
                    <a16:rowId xmlns:a16="http://schemas.microsoft.com/office/drawing/2014/main" val="1335438297"/>
                  </a:ext>
                </a:extLst>
              </a:tr>
              <a:tr h="2369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89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66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23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94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281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167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21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extLst>
                  <a:ext uri="{0D108BD9-81ED-4DB2-BD59-A6C34878D82A}">
                    <a16:rowId xmlns:a16="http://schemas.microsoft.com/office/drawing/2014/main" val="3864482680"/>
                  </a:ext>
                </a:extLst>
              </a:tr>
              <a:tr h="2369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137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40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35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168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431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2288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33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 dirty="0">
                          <a:effectLst/>
                        </a:rPr>
                        <a:t>1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extLst>
                  <a:ext uri="{0D108BD9-81ED-4DB2-BD59-A6C34878D82A}">
                    <a16:rowId xmlns:a16="http://schemas.microsoft.com/office/drawing/2014/main" val="2043627022"/>
                  </a:ext>
                </a:extLst>
              </a:tr>
              <a:tr h="2369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5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116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74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256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201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extLst>
                  <a:ext uri="{0D108BD9-81ED-4DB2-BD59-A6C34878D82A}">
                    <a16:rowId xmlns:a16="http://schemas.microsoft.com/office/drawing/2014/main" val="622230474"/>
                  </a:ext>
                </a:extLst>
              </a:tr>
              <a:tr h="2369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78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50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32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88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31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248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26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 dirty="0">
                          <a:effectLst/>
                        </a:rPr>
                        <a:t>1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extLst>
                  <a:ext uri="{0D108BD9-81ED-4DB2-BD59-A6C34878D82A}">
                    <a16:rowId xmlns:a16="http://schemas.microsoft.com/office/drawing/2014/main" val="1674115173"/>
                  </a:ext>
                </a:extLst>
              </a:tr>
              <a:tr h="2369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115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353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134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29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extLst>
                  <a:ext uri="{0D108BD9-81ED-4DB2-BD59-A6C34878D82A}">
                    <a16:rowId xmlns:a16="http://schemas.microsoft.com/office/drawing/2014/main" val="278641792"/>
                  </a:ext>
                </a:extLst>
              </a:tr>
              <a:tr h="2369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197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70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45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543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305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158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53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 dirty="0">
                          <a:effectLst/>
                        </a:rPr>
                        <a:t>1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extLst>
                  <a:ext uri="{0D108BD9-81ED-4DB2-BD59-A6C34878D82A}">
                    <a16:rowId xmlns:a16="http://schemas.microsoft.com/office/drawing/2014/main" val="1798567260"/>
                  </a:ext>
                </a:extLst>
              </a:tr>
              <a:tr h="236918"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8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125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96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0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232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>
                          <a:effectLst/>
                        </a:rPr>
                        <a:t>54</a:t>
                      </a:r>
                      <a:endParaRPr lang="de-D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400" u="none" strike="noStrike" dirty="0">
                          <a:effectLst/>
                        </a:rPr>
                        <a:t>1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872" marR="9872" marT="9872" marB="0" anchor="ctr"/>
                </a:tc>
                <a:extLst>
                  <a:ext uri="{0D108BD9-81ED-4DB2-BD59-A6C34878D82A}">
                    <a16:rowId xmlns:a16="http://schemas.microsoft.com/office/drawing/2014/main" val="15570996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0" y="4331371"/>
            <a:ext cx="731520" cy="141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rbel"/>
              <a:buNone/>
            </a:pPr>
            <a:r>
              <a:rPr lang="de-DE" sz="2800"/>
              <a:t>  </a:t>
            </a:r>
            <a:endParaRPr/>
          </a:p>
        </p:txBody>
      </p:sp>
      <p:sp>
        <p:nvSpPr>
          <p:cNvPr id="126" name="Google Shape;126;p4"/>
          <p:cNvSpPr txBox="1">
            <a:spLocks noGrp="1"/>
          </p:cNvSpPr>
          <p:nvPr>
            <p:ph type="body" idx="1"/>
          </p:nvPr>
        </p:nvSpPr>
        <p:spPr>
          <a:xfrm>
            <a:off x="3870114" y="722409"/>
            <a:ext cx="7759509" cy="573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DE" b="1" dirty="0"/>
              <a:t>Wäre es nicht toll, wenn man Daten ‚komprimieren‘ könnte?</a:t>
            </a:r>
            <a:br>
              <a:rPr lang="de-DE" b="1" dirty="0"/>
            </a:br>
            <a:endParaRPr dirty="0"/>
          </a:p>
          <a:p>
            <a:pPr marL="285750" indent="-285750"/>
            <a:r>
              <a:rPr lang="de-DE" dirty="0"/>
              <a:t>um die wichtigen von den unwichtigen Features zu unterscheiden?</a:t>
            </a:r>
            <a:endParaRPr dirty="0"/>
          </a:p>
          <a:p>
            <a:pPr marL="285750" indent="-285750">
              <a:lnSpc>
                <a:spcPct val="100000"/>
              </a:lnSpc>
            </a:pPr>
            <a:r>
              <a:rPr lang="de-DE" dirty="0"/>
              <a:t>Und wenn man die unwichtigen Features wegnimmt, so hat man die Komplexität der Daten verringert</a:t>
            </a:r>
          </a:p>
          <a:p>
            <a:pPr marL="285750" indent="-285750">
              <a:lnSpc>
                <a:spcPct val="100000"/>
              </a:lnSpc>
            </a:pPr>
            <a:r>
              <a:rPr lang="de-DE" dirty="0"/>
              <a:t>Was gleichbedeutend mit einer „</a:t>
            </a:r>
            <a:r>
              <a:rPr lang="de-DE" b="1" dirty="0">
                <a:solidFill>
                  <a:srgbClr val="FF0000"/>
                </a:solidFill>
              </a:rPr>
              <a:t>Dimensionsreduktion</a:t>
            </a:r>
            <a:r>
              <a:rPr lang="de-DE" dirty="0"/>
              <a:t>“ ist. </a:t>
            </a:r>
          </a:p>
          <a:p>
            <a:pPr marL="285750" indent="-285750">
              <a:lnSpc>
                <a:spcPct val="100000"/>
              </a:lnSpc>
            </a:pPr>
            <a:r>
              <a:rPr lang="de-DE" dirty="0"/>
              <a:t>Quasi eine Art „Rauschunterdrückung“ für Daten?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lang="de-DE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de-DE" b="1" dirty="0">
                <a:solidFill>
                  <a:schemeClr val="accent6"/>
                </a:solidFill>
              </a:rPr>
              <a:t>… </a:t>
            </a:r>
            <a:r>
              <a:rPr lang="de-DE" dirty="0"/>
              <a:t>Dann wären Daten leichter interpretierbar / visualisierbar.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de-DE" b="1" dirty="0">
                <a:solidFill>
                  <a:schemeClr val="accent6"/>
                </a:solidFill>
              </a:rPr>
              <a:t>…</a:t>
            </a:r>
            <a:r>
              <a:rPr lang="de-DE" dirty="0"/>
              <a:t> Modelle könnten leichter trainiert werden.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de-DE" b="1" dirty="0">
                <a:solidFill>
                  <a:schemeClr val="accent6"/>
                </a:solidFill>
              </a:rPr>
              <a:t>…</a:t>
            </a:r>
            <a:r>
              <a:rPr lang="de-DE" dirty="0"/>
              <a:t> und würden auch schneller laufen.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de-DE" b="1" dirty="0">
                <a:solidFill>
                  <a:schemeClr val="accent6"/>
                </a:solidFill>
              </a:rPr>
              <a:t>… </a:t>
            </a:r>
            <a:r>
              <a:rPr lang="de-DE" dirty="0"/>
              <a:t>und dabei sogar noch weniger Speicher benötigen.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lang="de-DE" b="1" i="1" dirty="0"/>
            </a:br>
            <a:r>
              <a:rPr lang="de-DE" b="1" i="1" dirty="0"/>
              <a:t>Und das alles für numerische, Bild- und Textdaten?</a:t>
            </a:r>
            <a:endParaRPr b="1" i="1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F57A34B-42C6-3FDE-A443-B7FA2F5EC223}"/>
              </a:ext>
            </a:extLst>
          </p:cNvPr>
          <p:cNvSpPr/>
          <p:nvPr/>
        </p:nvSpPr>
        <p:spPr>
          <a:xfrm>
            <a:off x="110668" y="3429000"/>
            <a:ext cx="3237840" cy="2210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B34DBE-9914-07BB-8AE5-9D355C563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40" y="3552275"/>
            <a:ext cx="1967181" cy="196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111;p3">
            <a:extLst>
              <a:ext uri="{FF2B5EF4-FFF2-40B4-BE49-F238E27FC236}">
                <a16:creationId xmlns:a16="http://schemas.microsoft.com/office/drawing/2014/main" id="{4B5BBE12-CEA6-6C33-76FF-DC582A3585BE}"/>
              </a:ext>
            </a:extLst>
          </p:cNvPr>
          <p:cNvPicPr preferRelativeResize="0"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6"/>
          <a:stretch/>
        </p:blipFill>
        <p:spPr>
          <a:xfrm>
            <a:off x="110668" y="1106765"/>
            <a:ext cx="3237840" cy="22104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105;p2">
            <a:extLst>
              <a:ext uri="{FF2B5EF4-FFF2-40B4-BE49-F238E27FC236}">
                <a16:creationId xmlns:a16="http://schemas.microsoft.com/office/drawing/2014/main" id="{621EE796-DE26-4C79-EE11-A2A68AA9BC21}"/>
              </a:ext>
            </a:extLst>
          </p:cNvPr>
          <p:cNvCxnSpPr>
            <a:cxnSpLocks/>
          </p:cNvCxnSpPr>
          <p:nvPr/>
        </p:nvCxnSpPr>
        <p:spPr>
          <a:xfrm>
            <a:off x="3439115" y="1134572"/>
            <a:ext cx="8143285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98902E17-5A05-8FC0-870E-FC13B1348CC8}"/>
              </a:ext>
            </a:extLst>
          </p:cNvPr>
          <p:cNvSpPr/>
          <p:nvPr/>
        </p:nvSpPr>
        <p:spPr>
          <a:xfrm>
            <a:off x="3931920" y="5103784"/>
            <a:ext cx="7482840" cy="1670681"/>
          </a:xfrm>
          <a:prstGeom prst="rect">
            <a:avLst/>
          </a:prstGeom>
          <a:gradFill flip="none" rotWithShape="1">
            <a:gsLst>
              <a:gs pos="0">
                <a:srgbClr val="B1E3ED">
                  <a:alpha val="31000"/>
                </a:srgbClr>
              </a:gs>
              <a:gs pos="100000">
                <a:schemeClr val="tx2">
                  <a:lumMod val="0"/>
                  <a:lumOff val="100000"/>
                  <a:alpha val="3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506385-3A7E-7855-CB91-08E55F2E9A0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660" y="2403163"/>
            <a:ext cx="3086433" cy="2804160"/>
          </a:xfrm>
          <a:prstGeom prst="rect">
            <a:avLst/>
          </a:prstGeom>
        </p:spPr>
      </p:pic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79400" y="6094735"/>
            <a:ext cx="3366286" cy="6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None/>
            </a:pPr>
            <a:endParaRPr dirty="0"/>
          </a:p>
        </p:txBody>
      </p:sp>
      <p:sp>
        <p:nvSpPr>
          <p:cNvPr id="136" name="Google Shape;136;p5"/>
          <p:cNvSpPr txBox="1">
            <a:spLocks noGrp="1"/>
          </p:cNvSpPr>
          <p:nvPr>
            <p:ph type="body" idx="1"/>
          </p:nvPr>
        </p:nvSpPr>
        <p:spPr>
          <a:xfrm>
            <a:off x="4204448" y="722409"/>
            <a:ext cx="7470238" cy="100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de-DE" b="1" dirty="0"/>
              <a:t>„Was die SuS am Ende der Stunde verstanden haben sollten …“</a:t>
            </a:r>
            <a:br>
              <a:rPr lang="de-DE" b="1" dirty="0"/>
            </a:br>
            <a:br>
              <a:rPr lang="de-DE" b="1" dirty="0"/>
            </a:br>
            <a:r>
              <a:rPr lang="de-DE" dirty="0"/>
              <a:t>Sammlung von wichtigen Konzepten und Begriffen:</a:t>
            </a:r>
            <a:endParaRPr b="1" dirty="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638" y="1134572"/>
            <a:ext cx="3154539" cy="4389926"/>
          </a:xfrm>
          <a:prstGeom prst="rect">
            <a:avLst/>
          </a:prstGeom>
          <a:noFill/>
          <a:ln w="76200" cap="sq" cmpd="sng">
            <a:noFill/>
            <a:prstDash val="solid"/>
            <a:miter lim="800000"/>
            <a:headEnd type="none" w="sm" len="sm"/>
            <a:tailEnd type="none" w="sm" len="sm"/>
          </a:ln>
        </p:spPr>
      </p:pic>
      <p:cxnSp>
        <p:nvCxnSpPr>
          <p:cNvPr id="139" name="Google Shape;139;p5"/>
          <p:cNvCxnSpPr/>
          <p:nvPr/>
        </p:nvCxnSpPr>
        <p:spPr>
          <a:xfrm>
            <a:off x="3204446" y="1134572"/>
            <a:ext cx="8377954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Sprechblase: rechteckig 3">
            <a:extLst>
              <a:ext uri="{FF2B5EF4-FFF2-40B4-BE49-F238E27FC236}">
                <a16:creationId xmlns:a16="http://schemas.microsoft.com/office/drawing/2014/main" id="{A219F035-8C84-30C5-D6BD-5C7E26F7A8DC}"/>
              </a:ext>
            </a:extLst>
          </p:cNvPr>
          <p:cNvSpPr/>
          <p:nvPr/>
        </p:nvSpPr>
        <p:spPr>
          <a:xfrm>
            <a:off x="6072007" y="1726248"/>
            <a:ext cx="2979420" cy="574992"/>
          </a:xfrm>
          <a:prstGeom prst="wedgeRectCallout">
            <a:avLst>
              <a:gd name="adj1" fmla="val 17077"/>
              <a:gd name="adj2" fmla="val 88229"/>
            </a:avLst>
          </a:prstGeom>
          <a:solidFill>
            <a:srgbClr val="FFFFA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de-DE" b="1" i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Hauptkomponente</a:t>
            </a:r>
            <a:br>
              <a:rPr lang="de-DE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Principal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PC1, PC2 …</a:t>
            </a:r>
            <a:endParaRPr lang="de-DE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prechblase: rechteckig 4">
            <a:extLst>
              <a:ext uri="{FF2B5EF4-FFF2-40B4-BE49-F238E27FC236}">
                <a16:creationId xmlns:a16="http://schemas.microsoft.com/office/drawing/2014/main" id="{C87AC6C3-CC39-51DE-0591-C4C8DA48B1F2}"/>
              </a:ext>
            </a:extLst>
          </p:cNvPr>
          <p:cNvSpPr/>
          <p:nvPr/>
        </p:nvSpPr>
        <p:spPr>
          <a:xfrm>
            <a:off x="3624432" y="2701715"/>
            <a:ext cx="2979420" cy="574992"/>
          </a:xfrm>
          <a:prstGeom prst="wedgeRectCallout">
            <a:avLst>
              <a:gd name="adj1" fmla="val 73344"/>
              <a:gd name="adj2" fmla="val 53773"/>
            </a:avLst>
          </a:prstGeom>
          <a:solidFill>
            <a:srgbClr val="FFFFA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de-DE" b="1" i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Singulärwertzerlegung</a:t>
            </a:r>
            <a:br>
              <a:rPr lang="de-DE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Singlular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Value </a:t>
            </a: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endParaRPr lang="de-DE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prechblase: rechteckig 5">
            <a:extLst>
              <a:ext uri="{FF2B5EF4-FFF2-40B4-BE49-F238E27FC236}">
                <a16:creationId xmlns:a16="http://schemas.microsoft.com/office/drawing/2014/main" id="{2B4C1CC5-7001-B774-2980-378158C9B68C}"/>
              </a:ext>
            </a:extLst>
          </p:cNvPr>
          <p:cNvSpPr/>
          <p:nvPr/>
        </p:nvSpPr>
        <p:spPr>
          <a:xfrm>
            <a:off x="7939567" y="5714543"/>
            <a:ext cx="2979420" cy="574992"/>
          </a:xfrm>
          <a:prstGeom prst="wedgeRectCallout">
            <a:avLst>
              <a:gd name="adj1" fmla="val -33818"/>
              <a:gd name="adj2" fmla="val -158265"/>
            </a:avLst>
          </a:prstGeom>
          <a:solidFill>
            <a:srgbClr val="B1E3ED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de-DE" b="1" i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Eigenvektor / Eigenwert</a:t>
            </a:r>
            <a:br>
              <a:rPr lang="de-DE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Eigenvector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 Eigenvalue</a:t>
            </a:r>
            <a:endParaRPr lang="de-DE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prechblase: rechteckig 6">
            <a:extLst>
              <a:ext uri="{FF2B5EF4-FFF2-40B4-BE49-F238E27FC236}">
                <a16:creationId xmlns:a16="http://schemas.microsoft.com/office/drawing/2014/main" id="{357F29B5-B7E5-30B3-9640-948713811C27}"/>
              </a:ext>
            </a:extLst>
          </p:cNvPr>
          <p:cNvSpPr/>
          <p:nvPr/>
        </p:nvSpPr>
        <p:spPr>
          <a:xfrm>
            <a:off x="8824806" y="2701715"/>
            <a:ext cx="2979420" cy="574992"/>
          </a:xfrm>
          <a:prstGeom prst="wedgeRectCallout">
            <a:avLst>
              <a:gd name="adj1" fmla="val -57858"/>
              <a:gd name="adj2" fmla="val 36545"/>
            </a:avLst>
          </a:prstGeom>
          <a:solidFill>
            <a:srgbClr val="FFFFA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de-DE" b="1" i="1" dirty="0" err="1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Screeplot</a:t>
            </a:r>
            <a:r>
              <a:rPr lang="de-DE" b="1" i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kumulierte Varianz</a:t>
            </a:r>
            <a:br>
              <a:rPr lang="de-DE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Scree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Plot &amp; </a:t>
            </a: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explained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Variance</a:t>
            </a:r>
            <a:endParaRPr lang="de-DE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prechblase: rechteckig 7">
            <a:extLst>
              <a:ext uri="{FF2B5EF4-FFF2-40B4-BE49-F238E27FC236}">
                <a16:creationId xmlns:a16="http://schemas.microsoft.com/office/drawing/2014/main" id="{8117E49F-8E79-386F-2035-23CED507CB6A}"/>
              </a:ext>
            </a:extLst>
          </p:cNvPr>
          <p:cNvSpPr/>
          <p:nvPr/>
        </p:nvSpPr>
        <p:spPr>
          <a:xfrm>
            <a:off x="8824806" y="3964678"/>
            <a:ext cx="2979420" cy="574992"/>
          </a:xfrm>
          <a:prstGeom prst="wedgeRectCallout">
            <a:avLst>
              <a:gd name="adj1" fmla="val -61952"/>
              <a:gd name="adj2" fmla="val -28392"/>
            </a:avLst>
          </a:prstGeom>
          <a:solidFill>
            <a:srgbClr val="FFFFA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de-DE" b="1" i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Normalisierung von Variablen </a:t>
            </a:r>
            <a:br>
              <a:rPr lang="de-DE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Normalized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Variables</a:t>
            </a:r>
            <a:endParaRPr lang="de-DE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Sprechblase: rechteckig 8">
            <a:extLst>
              <a:ext uri="{FF2B5EF4-FFF2-40B4-BE49-F238E27FC236}">
                <a16:creationId xmlns:a16="http://schemas.microsoft.com/office/drawing/2014/main" id="{19BAE944-DEA6-190B-9670-37480FB9EA5B}"/>
              </a:ext>
            </a:extLst>
          </p:cNvPr>
          <p:cNvSpPr/>
          <p:nvPr/>
        </p:nvSpPr>
        <p:spPr>
          <a:xfrm>
            <a:off x="4204448" y="5714543"/>
            <a:ext cx="2979420" cy="574992"/>
          </a:xfrm>
          <a:prstGeom prst="wedgeRectCallout">
            <a:avLst>
              <a:gd name="adj1" fmla="val 45978"/>
              <a:gd name="adj2" fmla="val -146338"/>
            </a:avLst>
          </a:prstGeom>
          <a:solidFill>
            <a:srgbClr val="B1E3ED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de-DE" b="1" i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Kovarianz &amp; Kovarianzmatrix</a:t>
            </a:r>
            <a:br>
              <a:rPr lang="de-DE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b="1" dirty="0" err="1">
                <a:solidFill>
                  <a:srgbClr val="C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Covariance</a:t>
            </a:r>
            <a:r>
              <a:rPr lang="de-DE" b="1" dirty="0">
                <a:solidFill>
                  <a:srgbClr val="C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</a:t>
            </a:r>
            <a:r>
              <a:rPr lang="de-DE" b="1" dirty="0" err="1">
                <a:solidFill>
                  <a:srgbClr val="C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</a:t>
            </a: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aricane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matrix</a:t>
            </a:r>
            <a:endParaRPr lang="de-DE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" name="Google Shape;139;p5">
            <a:extLst>
              <a:ext uri="{FF2B5EF4-FFF2-40B4-BE49-F238E27FC236}">
                <a16:creationId xmlns:a16="http://schemas.microsoft.com/office/drawing/2014/main" id="{D442E8F1-BB90-38E2-6AB8-D9020B036677}"/>
              </a:ext>
            </a:extLst>
          </p:cNvPr>
          <p:cNvCxnSpPr>
            <a:cxnSpLocks/>
          </p:cNvCxnSpPr>
          <p:nvPr/>
        </p:nvCxnSpPr>
        <p:spPr>
          <a:xfrm>
            <a:off x="4204448" y="5096972"/>
            <a:ext cx="6714539" cy="0"/>
          </a:xfrm>
          <a:prstGeom prst="straightConnector1">
            <a:avLst/>
          </a:prstGeom>
          <a:noFill/>
          <a:ln w="19050" cap="flat" cmpd="sng">
            <a:solidFill>
              <a:srgbClr val="238295"/>
            </a:solidFill>
            <a:prstDash val="sysDot"/>
            <a:round/>
            <a:headEnd type="none" w="sm" len="sm"/>
            <a:tailEnd type="none" w="sm" len="sm"/>
          </a:ln>
        </p:spPr>
      </p:cxnSp>
      <p:sp>
        <p:nvSpPr>
          <p:cNvPr id="17" name="Sprechblase: rechteckig 16">
            <a:extLst>
              <a:ext uri="{FF2B5EF4-FFF2-40B4-BE49-F238E27FC236}">
                <a16:creationId xmlns:a16="http://schemas.microsoft.com/office/drawing/2014/main" id="{831023CA-E9D6-60BD-C4DF-A93537445621}"/>
              </a:ext>
            </a:extLst>
          </p:cNvPr>
          <p:cNvSpPr/>
          <p:nvPr/>
        </p:nvSpPr>
        <p:spPr>
          <a:xfrm>
            <a:off x="3624432" y="3964678"/>
            <a:ext cx="2979420" cy="574992"/>
          </a:xfrm>
          <a:prstGeom prst="wedgeRectCallout">
            <a:avLst>
              <a:gd name="adj1" fmla="val 62602"/>
              <a:gd name="adj2" fmla="val -24416"/>
            </a:avLst>
          </a:prstGeom>
          <a:solidFill>
            <a:srgbClr val="FFFFA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de-DE" b="1" i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Faktorwerte der Hauptkomponente</a:t>
            </a:r>
            <a:br>
              <a:rPr lang="de-DE" b="1" dirty="0">
                <a:solidFill>
                  <a:srgbClr val="000000"/>
                </a:solidFill>
                <a:effectLst/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loading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scores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principal</a:t>
            </a:r>
            <a:r>
              <a:rPr lang="de-DE" b="1" dirty="0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C00000"/>
                </a:solidFill>
                <a:latin typeface="Lato" panose="020F050202020403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comp.</a:t>
            </a:r>
            <a:endParaRPr lang="de-DE" dirty="0">
              <a:solidFill>
                <a:srgbClr val="C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Google Shape;162;p7">
            <a:extLst>
              <a:ext uri="{FF2B5EF4-FFF2-40B4-BE49-F238E27FC236}">
                <a16:creationId xmlns:a16="http://schemas.microsoft.com/office/drawing/2014/main" id="{40DC500C-215A-F09F-895C-B9901286AC7A}"/>
              </a:ext>
            </a:extLst>
          </p:cNvPr>
          <p:cNvSpPr txBox="1"/>
          <p:nvPr/>
        </p:nvSpPr>
        <p:spPr>
          <a:xfrm>
            <a:off x="4959610" y="6359935"/>
            <a:ext cx="4992110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lang="de-DE" sz="1800" i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Universitätsniveau … nicht für SuS – aber für Lehrer</a:t>
            </a:r>
            <a:endParaRPr sz="1800" i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155E5997-495F-3587-2F89-8379530838AA}"/>
              </a:ext>
            </a:extLst>
          </p:cNvPr>
          <p:cNvSpPr/>
          <p:nvPr/>
        </p:nvSpPr>
        <p:spPr>
          <a:xfrm>
            <a:off x="609600" y="548640"/>
            <a:ext cx="3268980" cy="579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de-DE"/>
              <a:t>  </a:t>
            </a:r>
            <a:endParaRPr/>
          </a:p>
        </p:txBody>
      </p:sp>
      <p:sp>
        <p:nvSpPr>
          <p:cNvPr id="145" name="Google Shape;145;p6"/>
          <p:cNvSpPr txBox="1">
            <a:spLocks noGrp="1"/>
          </p:cNvSpPr>
          <p:nvPr>
            <p:ph type="body" idx="1"/>
          </p:nvPr>
        </p:nvSpPr>
        <p:spPr>
          <a:xfrm>
            <a:off x="1046830" y="741620"/>
            <a:ext cx="10462259" cy="2946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de-DE" b="1" dirty="0"/>
              <a:t>Intuitives Konzept: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de-DE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de-DE" dirty="0"/>
              <a:t>Die PCA kann man sich als Anpassung eines (</a:t>
            </a:r>
            <a:r>
              <a:rPr lang="de-DE" i="1" dirty="0"/>
              <a:t>n-dimensionalen</a:t>
            </a:r>
            <a:r>
              <a:rPr lang="de-DE" dirty="0"/>
              <a:t>) Ellipsoids an die Daten vorstellen, wobei jede Achse des Ellipsoids eine Hauptkomponente darstellt. </a:t>
            </a:r>
            <a:br>
              <a:rPr lang="de-DE" dirty="0"/>
            </a:br>
            <a:r>
              <a:rPr lang="de-DE" dirty="0"/>
              <a:t>Wenn eine Achse des Ellipsoids klein ist, dann ist auch die Varianz entlang dieser Achse klein.</a:t>
            </a:r>
            <a:endParaRPr dirty="0"/>
          </a:p>
        </p:txBody>
      </p:sp>
      <p:cxnSp>
        <p:nvCxnSpPr>
          <p:cNvPr id="152" name="Google Shape;152;p6"/>
          <p:cNvCxnSpPr>
            <a:cxnSpLocks/>
          </p:cNvCxnSpPr>
          <p:nvPr/>
        </p:nvCxnSpPr>
        <p:spPr>
          <a:xfrm>
            <a:off x="1120140" y="1134572"/>
            <a:ext cx="1046226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D90F84E4-3232-C713-0881-3605792D5F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71" y="2545082"/>
            <a:ext cx="3974027" cy="3610578"/>
          </a:xfrm>
          <a:prstGeom prst="rect">
            <a:avLst/>
          </a:prstGeom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3B105FB5-C2B9-4301-F6A8-8C789B395672}"/>
              </a:ext>
            </a:extLst>
          </p:cNvPr>
          <p:cNvGrpSpPr/>
          <p:nvPr/>
        </p:nvGrpSpPr>
        <p:grpSpPr>
          <a:xfrm>
            <a:off x="5275969" y="2545082"/>
            <a:ext cx="4283696" cy="3610578"/>
            <a:chOff x="5159975" y="2545082"/>
            <a:chExt cx="4283696" cy="3610578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72DFBD99-B6C3-AE45-F8A5-659EFEFC8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0436" y="2545082"/>
              <a:ext cx="3974027" cy="3610578"/>
            </a:xfrm>
            <a:prstGeom prst="rect">
              <a:avLst/>
            </a:prstGeom>
          </p:spPr>
        </p:pic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89A2D838-2CAD-999D-A164-B790A33CB290}"/>
                </a:ext>
              </a:extLst>
            </p:cNvPr>
            <p:cNvGrpSpPr/>
            <p:nvPr/>
          </p:nvGrpSpPr>
          <p:grpSpPr>
            <a:xfrm rot="18900000">
              <a:off x="5159975" y="3840915"/>
              <a:ext cx="4283696" cy="1067682"/>
              <a:chOff x="5270799" y="2791988"/>
              <a:chExt cx="4283696" cy="1067682"/>
            </a:xfrm>
          </p:grpSpPr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AA1A30BA-2687-E259-2BC1-563F8FC606FE}"/>
                  </a:ext>
                </a:extLst>
              </p:cNvPr>
              <p:cNvSpPr/>
              <p:nvPr/>
            </p:nvSpPr>
            <p:spPr>
              <a:xfrm>
                <a:off x="5270799" y="2791988"/>
                <a:ext cx="4244340" cy="106768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8" name="Gerade Verbindung mit Pfeil 7">
                <a:extLst>
                  <a:ext uri="{FF2B5EF4-FFF2-40B4-BE49-F238E27FC236}">
                    <a16:creationId xmlns:a16="http://schemas.microsoft.com/office/drawing/2014/main" id="{B3182905-9685-0C53-C52B-067B290FFC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92969" y="3325829"/>
                <a:ext cx="2161526" cy="1173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 Verbindung mit Pfeil 10">
                <a:extLst>
                  <a:ext uri="{FF2B5EF4-FFF2-40B4-BE49-F238E27FC236}">
                    <a16:creationId xmlns:a16="http://schemas.microsoft.com/office/drawing/2014/main" id="{90E483FA-3EC9-50BB-F704-7B45BE9F6A28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 flipV="1">
                <a:off x="7392969" y="2791988"/>
                <a:ext cx="0" cy="53384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Google Shape;162;p7">
              <a:extLst>
                <a:ext uri="{FF2B5EF4-FFF2-40B4-BE49-F238E27FC236}">
                  <a16:creationId xmlns:a16="http://schemas.microsoft.com/office/drawing/2014/main" id="{826AD55A-E671-820A-54D5-41C585F3E4C9}"/>
                </a:ext>
              </a:extLst>
            </p:cNvPr>
            <p:cNvSpPr txBox="1"/>
            <p:nvPr/>
          </p:nvSpPr>
          <p:spPr>
            <a:xfrm>
              <a:off x="8709682" y="2602735"/>
              <a:ext cx="569734" cy="341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None/>
              </a:pPr>
              <a:r>
                <a:rPr lang="de-DE" sz="1800" b="1" i="1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PC1</a:t>
              </a:r>
              <a:endParaRPr sz="1800" b="1" i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" name="Google Shape;162;p7">
              <a:extLst>
                <a:ext uri="{FF2B5EF4-FFF2-40B4-BE49-F238E27FC236}">
                  <a16:creationId xmlns:a16="http://schemas.microsoft.com/office/drawing/2014/main" id="{1E791DE1-1429-E036-1682-D56FFB0CD8BE}"/>
                </a:ext>
              </a:extLst>
            </p:cNvPr>
            <p:cNvSpPr txBox="1"/>
            <p:nvPr/>
          </p:nvSpPr>
          <p:spPr>
            <a:xfrm>
              <a:off x="6429677" y="3755136"/>
              <a:ext cx="569734" cy="341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Noto Sans Symbols"/>
                <a:buNone/>
              </a:pPr>
              <a:r>
                <a:rPr lang="de-DE" sz="1800" b="1" i="1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PC2</a:t>
              </a:r>
              <a:endParaRPr sz="1800" b="1" i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42CBAD56-8FBA-C813-0910-76F2411DDE1A}"/>
              </a:ext>
            </a:extLst>
          </p:cNvPr>
          <p:cNvSpPr/>
          <p:nvPr/>
        </p:nvSpPr>
        <p:spPr>
          <a:xfrm>
            <a:off x="4654377" y="3980199"/>
            <a:ext cx="727193" cy="628377"/>
          </a:xfrm>
          <a:prstGeom prst="rightArrow">
            <a:avLst/>
          </a:prstGeom>
          <a:solidFill>
            <a:srgbClr val="2382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PCA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1747C42-6076-4AE1-5C72-5DCF8C73094A}"/>
              </a:ext>
            </a:extLst>
          </p:cNvPr>
          <p:cNvSpPr txBox="1"/>
          <p:nvPr/>
        </p:nvSpPr>
        <p:spPr>
          <a:xfrm>
            <a:off x="9601014" y="2445962"/>
            <a:ext cx="22296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b="1" i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PC1, PC2 sind die Eigenvektoren der Kovarianzmatrix. </a:t>
            </a:r>
          </a:p>
          <a:p>
            <a:endParaRPr lang="de-DE" sz="1800" b="1" i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r>
              <a:rPr lang="de-DE" sz="1800" b="1" i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Die Länge der Eigenvektoren entspricht den Eigenwerten. </a:t>
            </a:r>
          </a:p>
          <a:p>
            <a:endParaRPr lang="de-DE" sz="1800" b="1" i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r>
              <a:rPr lang="de-DE" sz="1800" b="1" i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Je größer der Eigenwert, desto ‚bedeutsamer‘ Eigenvektor.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1089559" y="5281608"/>
            <a:ext cx="1978106" cy="70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rbel"/>
              <a:buNone/>
            </a:pPr>
            <a:r>
              <a:rPr lang="de-DE" dirty="0"/>
              <a:t> </a:t>
            </a:r>
            <a:endParaRPr dirty="0"/>
          </a:p>
        </p:txBody>
      </p:sp>
      <p:sp>
        <p:nvSpPr>
          <p:cNvPr id="113" name="Google Shape;113;p3"/>
          <p:cNvSpPr txBox="1">
            <a:spLocks noGrp="1"/>
          </p:cNvSpPr>
          <p:nvPr>
            <p:ph type="body" idx="1"/>
          </p:nvPr>
        </p:nvSpPr>
        <p:spPr>
          <a:xfrm>
            <a:off x="3870114" y="741622"/>
            <a:ext cx="7712286" cy="3614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de-DE" b="1" dirty="0"/>
              <a:t>Wie funktioniert PCA?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710C7BA-2000-4AFD-DC97-ABDC07946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437" y="1271797"/>
            <a:ext cx="6538519" cy="4976734"/>
          </a:xfrm>
          <a:prstGeom prst="rect">
            <a:avLst/>
          </a:prstGeom>
        </p:spPr>
      </p:pic>
      <p:pic>
        <p:nvPicPr>
          <p:cNvPr id="4" name="Google Shape;111;p3">
            <a:extLst>
              <a:ext uri="{FF2B5EF4-FFF2-40B4-BE49-F238E27FC236}">
                <a16:creationId xmlns:a16="http://schemas.microsoft.com/office/drawing/2014/main" id="{9D8062CF-1652-F96F-8CF5-8DC62421BE6F}"/>
              </a:ext>
            </a:extLst>
          </p:cNvPr>
          <p:cNvPicPr preferRelativeResize="0"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107" y="1134572"/>
            <a:ext cx="3192533" cy="28977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105;p2">
            <a:extLst>
              <a:ext uri="{FF2B5EF4-FFF2-40B4-BE49-F238E27FC236}">
                <a16:creationId xmlns:a16="http://schemas.microsoft.com/office/drawing/2014/main" id="{F7F5EEAA-ACB5-782A-9EAD-BB23714DA44B}"/>
              </a:ext>
            </a:extLst>
          </p:cNvPr>
          <p:cNvCxnSpPr>
            <a:cxnSpLocks/>
          </p:cNvCxnSpPr>
          <p:nvPr/>
        </p:nvCxnSpPr>
        <p:spPr>
          <a:xfrm>
            <a:off x="3439115" y="1134572"/>
            <a:ext cx="8143285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Google Shape;162;p7">
            <a:extLst>
              <a:ext uri="{FF2B5EF4-FFF2-40B4-BE49-F238E27FC236}">
                <a16:creationId xmlns:a16="http://schemas.microsoft.com/office/drawing/2014/main" id="{C3B44411-0E1D-CB7B-5673-29129F480D67}"/>
              </a:ext>
            </a:extLst>
          </p:cNvPr>
          <p:cNvSpPr txBox="1"/>
          <p:nvPr/>
        </p:nvSpPr>
        <p:spPr>
          <a:xfrm>
            <a:off x="4985913" y="6385755"/>
            <a:ext cx="504968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lang="de-DE" sz="1800" i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https://devopedia.org/principal-component-analysis</a:t>
            </a:r>
            <a:endParaRPr sz="1800" i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1089559" y="5281608"/>
            <a:ext cx="1978106" cy="70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rbel"/>
              <a:buNone/>
            </a:pPr>
            <a:r>
              <a:rPr lang="de-DE" dirty="0"/>
              <a:t> </a:t>
            </a:r>
            <a:endParaRPr dirty="0"/>
          </a:p>
        </p:txBody>
      </p:sp>
      <p:sp>
        <p:nvSpPr>
          <p:cNvPr id="113" name="Google Shape;113;p3"/>
          <p:cNvSpPr txBox="1">
            <a:spLocks noGrp="1"/>
          </p:cNvSpPr>
          <p:nvPr>
            <p:ph type="body" idx="1"/>
          </p:nvPr>
        </p:nvSpPr>
        <p:spPr>
          <a:xfrm>
            <a:off x="3870114" y="741622"/>
            <a:ext cx="7712286" cy="3614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de-DE" b="1" dirty="0"/>
              <a:t>Josh </a:t>
            </a:r>
            <a:r>
              <a:rPr lang="de-DE" b="1" dirty="0" err="1"/>
              <a:t>Starmer</a:t>
            </a:r>
            <a:r>
              <a:rPr lang="de-DE" b="1" dirty="0"/>
              <a:t> on </a:t>
            </a:r>
            <a:r>
              <a:rPr lang="de-DE" b="1" dirty="0" err="1"/>
              <a:t>Statquest</a:t>
            </a:r>
            <a:r>
              <a:rPr lang="de-DE" b="1" dirty="0"/>
              <a:t> </a:t>
            </a:r>
            <a:r>
              <a:rPr lang="de-DE" b="1" dirty="0" err="1"/>
              <a:t>explaining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main</a:t>
            </a:r>
            <a:r>
              <a:rPr lang="de-DE" b="1" dirty="0"/>
              <a:t> </a:t>
            </a:r>
            <a:r>
              <a:rPr lang="de-DE" b="1" dirty="0" err="1"/>
              <a:t>idea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pca</a:t>
            </a:r>
            <a:r>
              <a:rPr lang="de-DE" b="1" dirty="0"/>
              <a:t>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de-DE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de-DE" b="1" dirty="0"/>
              <a:t>Range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br>
              <a:rPr lang="de-DE" b="1" dirty="0"/>
            </a:br>
            <a:r>
              <a:rPr lang="de-DE" b="1" dirty="0"/>
              <a:t>4:05 – 9:25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de-DE" b="1" dirty="0"/>
              <a:t>(1.25x </a:t>
            </a:r>
            <a:r>
              <a:rPr lang="de-DE" b="1" dirty="0" err="1"/>
              <a:t>speed</a:t>
            </a:r>
            <a:r>
              <a:rPr lang="de-DE" b="1" dirty="0"/>
              <a:t>)</a:t>
            </a:r>
            <a:endParaRPr dirty="0"/>
          </a:p>
        </p:txBody>
      </p:sp>
      <p:pic>
        <p:nvPicPr>
          <p:cNvPr id="4" name="Google Shape;111;p3">
            <a:extLst>
              <a:ext uri="{FF2B5EF4-FFF2-40B4-BE49-F238E27FC236}">
                <a16:creationId xmlns:a16="http://schemas.microsoft.com/office/drawing/2014/main" id="{9D8062CF-1652-F96F-8CF5-8DC62421BE6F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107" y="1134572"/>
            <a:ext cx="3192533" cy="28977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105;p2">
            <a:extLst>
              <a:ext uri="{FF2B5EF4-FFF2-40B4-BE49-F238E27FC236}">
                <a16:creationId xmlns:a16="http://schemas.microsoft.com/office/drawing/2014/main" id="{F7F5EEAA-ACB5-782A-9EAD-BB23714DA44B}"/>
              </a:ext>
            </a:extLst>
          </p:cNvPr>
          <p:cNvCxnSpPr>
            <a:cxnSpLocks/>
          </p:cNvCxnSpPr>
          <p:nvPr/>
        </p:nvCxnSpPr>
        <p:spPr>
          <a:xfrm>
            <a:off x="3439115" y="1134572"/>
            <a:ext cx="8143285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Google Shape;162;p7">
            <a:extLst>
              <a:ext uri="{FF2B5EF4-FFF2-40B4-BE49-F238E27FC236}">
                <a16:creationId xmlns:a16="http://schemas.microsoft.com/office/drawing/2014/main" id="{C3B44411-0E1D-CB7B-5673-29129F480D67}"/>
              </a:ext>
            </a:extLst>
          </p:cNvPr>
          <p:cNvSpPr txBox="1"/>
          <p:nvPr/>
        </p:nvSpPr>
        <p:spPr>
          <a:xfrm>
            <a:off x="5338746" y="5838645"/>
            <a:ext cx="5918368" cy="84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lang="de-DE" sz="1800" i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  <a:hlinkClick r:id="rId4"/>
              </a:rPr>
              <a:t>https://www.youtube.com/watch?v=FgakZw6K1QQ&amp;t=1086s</a:t>
            </a:r>
            <a:endParaRPr lang="de-DE" sz="1800" i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lang="de-DE" sz="1800" i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https://www.youtube.com/watch?v=WBlnwvjfMtQ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sz="1800" i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83DD19E-9F6C-16F4-2756-8836E88E97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86224"/>
            <a:ext cx="4483846" cy="4337204"/>
          </a:xfrm>
          <a:prstGeom prst="rect">
            <a:avLst/>
          </a:prstGeom>
          <a:ln w="127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672665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de-DE"/>
              <a:t>  </a:t>
            </a:r>
            <a:endParaRPr/>
          </a:p>
        </p:txBody>
      </p:sp>
      <p:sp>
        <p:nvSpPr>
          <p:cNvPr id="161" name="Google Shape;161;p7"/>
          <p:cNvSpPr txBox="1">
            <a:spLocks noGrp="1"/>
          </p:cNvSpPr>
          <p:nvPr>
            <p:ph type="body" idx="1"/>
          </p:nvPr>
        </p:nvSpPr>
        <p:spPr>
          <a:xfrm>
            <a:off x="3870114" y="741621"/>
            <a:ext cx="7138545" cy="1759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de-DE" b="1" dirty="0"/>
              <a:t>Fragen wir die GPT mit Internetsuche!</a:t>
            </a:r>
            <a:endParaRPr dirty="0"/>
          </a:p>
        </p:txBody>
      </p:sp>
      <p:cxnSp>
        <p:nvCxnSpPr>
          <p:cNvPr id="170" name="Google Shape;170;p7"/>
          <p:cNvCxnSpPr/>
          <p:nvPr/>
        </p:nvCxnSpPr>
        <p:spPr>
          <a:xfrm>
            <a:off x="3204446" y="1134572"/>
            <a:ext cx="8377954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FBCB00-7935-189D-C80A-4856F6C083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5228" y="1123837"/>
            <a:ext cx="3170674" cy="266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62;p7">
            <a:extLst>
              <a:ext uri="{FF2B5EF4-FFF2-40B4-BE49-F238E27FC236}">
                <a16:creationId xmlns:a16="http://schemas.microsoft.com/office/drawing/2014/main" id="{D78F0666-702B-2638-E5C8-827306E95D14}"/>
              </a:ext>
            </a:extLst>
          </p:cNvPr>
          <p:cNvSpPr txBox="1"/>
          <p:nvPr/>
        </p:nvSpPr>
        <p:spPr>
          <a:xfrm>
            <a:off x="254940" y="3987742"/>
            <a:ext cx="2947483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lang="de-DE" sz="1800" i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https://chat.openai.com/chat</a:t>
            </a:r>
            <a:endParaRPr sz="1800" i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C7E7B-80CB-E5B0-96BC-5DAB7EA6A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850" y="1256885"/>
            <a:ext cx="80186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Datenzentrierung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Zunächst werden die Daten so transformiert, dass der Mittelwert jeder Variablen null ist. Dies geschieht durch Subtraktion des Mittelwerts jeder Variablen von den entsprechenden Datenpunkten.​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Kovarianzmatrix berechnen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Nach der Zentrierung wird die Kovarianzmatrix der Daten berechnet. Diese Matrix gibt an, wie stark die Variablen miteinander variieren und hilft dabei, die Beziehungen zwischen ihnen zu verstehen. 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Eigenwerte und Eigenvektoren bestimmen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Anschließend werden die Eigenwerte und die zugehörigen Eigenvektoren der Kovarianzmatrix ermittelt. Die Eigenvektoren repräsentieren die Richtungen der Hauptkomponenten, während die Eigenwerte die Varianz entlang dieser Komponenten angeben.​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Hauptkomponenten auswählen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Die Eigenvektoren werden nach den Werten ihrer Eigenwerte sortiert, wobei die größte Varianz zuerst kommt. Die Hauptkomponenten mit den größten Eigenwerten werden ausgewählt, um die Daten in einen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niedrigerdimensionalen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Raum zu projizieren, wobei möglichst viel der ursprünglichen Varianz erhalten bleibt.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1089559" y="5281608"/>
            <a:ext cx="1978106" cy="70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rbel"/>
              <a:buNone/>
            </a:pPr>
            <a:r>
              <a:rPr lang="de-DE" dirty="0"/>
              <a:t> </a:t>
            </a:r>
            <a:endParaRPr dirty="0"/>
          </a:p>
        </p:txBody>
      </p:sp>
      <p:sp>
        <p:nvSpPr>
          <p:cNvPr id="113" name="Google Shape;113;p3"/>
          <p:cNvSpPr txBox="1">
            <a:spLocks noGrp="1"/>
          </p:cNvSpPr>
          <p:nvPr>
            <p:ph type="body" idx="1"/>
          </p:nvPr>
        </p:nvSpPr>
        <p:spPr>
          <a:xfrm>
            <a:off x="3870114" y="741622"/>
            <a:ext cx="7712286" cy="3614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de-DE" b="1" dirty="0"/>
              <a:t>Selber machen mit Orange Data Mining</a:t>
            </a:r>
            <a:endParaRPr dirty="0"/>
          </a:p>
        </p:txBody>
      </p:sp>
      <p:pic>
        <p:nvPicPr>
          <p:cNvPr id="4" name="Google Shape;111;p3">
            <a:extLst>
              <a:ext uri="{FF2B5EF4-FFF2-40B4-BE49-F238E27FC236}">
                <a16:creationId xmlns:a16="http://schemas.microsoft.com/office/drawing/2014/main" id="{9D8062CF-1652-F96F-8CF5-8DC62421BE6F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107" y="1134572"/>
            <a:ext cx="3192533" cy="28977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105;p2">
            <a:extLst>
              <a:ext uri="{FF2B5EF4-FFF2-40B4-BE49-F238E27FC236}">
                <a16:creationId xmlns:a16="http://schemas.microsoft.com/office/drawing/2014/main" id="{F7F5EEAA-ACB5-782A-9EAD-BB23714DA44B}"/>
              </a:ext>
            </a:extLst>
          </p:cNvPr>
          <p:cNvCxnSpPr>
            <a:cxnSpLocks/>
          </p:cNvCxnSpPr>
          <p:nvPr/>
        </p:nvCxnSpPr>
        <p:spPr>
          <a:xfrm>
            <a:off x="3439115" y="1134572"/>
            <a:ext cx="8143285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62B1B83F-CE60-4812-5BEC-9F2F393B1F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05" b="18133"/>
          <a:stretch/>
        </p:blipFill>
        <p:spPr bwMode="auto">
          <a:xfrm>
            <a:off x="3597139" y="1519980"/>
            <a:ext cx="3116081" cy="259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2DFD7EC-8B88-103C-A194-CB00B218E968}"/>
              </a:ext>
            </a:extLst>
          </p:cNvPr>
          <p:cNvSpPr txBox="1"/>
          <p:nvPr/>
        </p:nvSpPr>
        <p:spPr>
          <a:xfrm>
            <a:off x="6843477" y="1874805"/>
            <a:ext cx="3813861" cy="431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de-DE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rbel"/>
                <a:ea typeface="Corbel"/>
                <a:cs typeface="Corbel"/>
                <a:sym typeface="Corbel"/>
              </a:rPr>
              <a:t>Gute Datensätze zum Einstieg: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de-DE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Zoo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de-DE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Diabetes (Indian)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de-DE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Weinsorten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de-DE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Iris (wie immer…)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de-DE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Selbst gemalte Daten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de-DE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Breast</a:t>
            </a:r>
            <a:r>
              <a:rPr lang="de-DE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Cancer Wisconsin</a:t>
            </a:r>
          </a:p>
        </p:txBody>
      </p:sp>
    </p:spTree>
    <p:extLst>
      <p:ext uri="{BB962C8B-B14F-4D97-AF65-F5344CB8AC3E}">
        <p14:creationId xmlns:p14="http://schemas.microsoft.com/office/powerpoint/2010/main" val="3711987807"/>
      </p:ext>
    </p:extLst>
  </p:cSld>
  <p:clrMapOvr>
    <a:masterClrMapping/>
  </p:clrMapOvr>
</p:sld>
</file>

<file path=ppt/theme/theme1.xml><?xml version="1.0" encoding="utf-8"?>
<a:theme xmlns:a="http://schemas.openxmlformats.org/drawingml/2006/main" name="Rahmen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PresentationFormat>Breitbild</PresentationFormat>
  <Paragraphs>164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Arial</vt:lpstr>
      <vt:lpstr>Lato</vt:lpstr>
      <vt:lpstr>Calibri</vt:lpstr>
      <vt:lpstr>Corbel</vt:lpstr>
      <vt:lpstr>Noto Sans Symbols</vt:lpstr>
      <vt:lpstr>Wingdings</vt:lpstr>
      <vt:lpstr>Rahmen</vt:lpstr>
      <vt:lpstr>PCA</vt:lpstr>
      <vt:lpstr> </vt:lpstr>
      <vt:lpstr>  </vt:lpstr>
      <vt:lpstr>PowerPoint-Präsentation</vt:lpstr>
      <vt:lpstr>  </vt:lpstr>
      <vt:lpstr> </vt:lpstr>
      <vt:lpstr> </vt:lpstr>
      <vt:lpstr> 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GPT-3</dc:title>
  <dc:creator>Jörg Thomas</dc:creator>
  <cp:lastModifiedBy>Jörg Thomas</cp:lastModifiedBy>
  <cp:revision>24</cp:revision>
  <dcterms:created xsi:type="dcterms:W3CDTF">2018-10-17T08:35:13Z</dcterms:created>
  <dcterms:modified xsi:type="dcterms:W3CDTF">2025-03-12T20:06:18Z</dcterms:modified>
</cp:coreProperties>
</file>